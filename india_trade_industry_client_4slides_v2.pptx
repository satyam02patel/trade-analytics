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India Machinery Exports (HS 84), 2015–2022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Machinery Exports (HS 84, US$ bn)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1-B78A-4BF3-B069-A909CEEFE29C}"/>
              </c:ext>
            </c:extLst>
          </c:dPt>
          <c:dPt>
            <c:idx val="1"/>
            <c:invertIfNegative val="1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3-B78A-4BF3-B069-A909CEEFE29C}"/>
              </c:ext>
            </c:extLst>
          </c:dPt>
          <c:dPt>
            <c:idx val="2"/>
            <c:invertIfNegative val="1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5-B78A-4BF3-B069-A909CEEFE29C}"/>
              </c:ext>
            </c:extLst>
          </c:dPt>
          <c:dPt>
            <c:idx val="3"/>
            <c:invertIfNegative val="1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7-B78A-4BF3-B069-A909CEEFE29C}"/>
              </c:ext>
            </c:extLst>
          </c:dPt>
          <c:dPt>
            <c:idx val="4"/>
            <c:invertIfNegative val="1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9-B78A-4BF3-B069-A909CEEFE29C}"/>
              </c:ext>
            </c:extLst>
          </c:dPt>
          <c:dPt>
            <c:idx val="5"/>
            <c:invertIfNegative val="1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B-B78A-4BF3-B069-A909CEEFE29C}"/>
              </c:ext>
            </c:extLst>
          </c:dPt>
          <c:dPt>
            <c:idx val="6"/>
            <c:invertIfNegative val="1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D-B78A-4BF3-B069-A909CEEFE29C}"/>
              </c:ext>
            </c:extLst>
          </c:dPt>
          <c:dPt>
            <c:idx val="7"/>
            <c:invertIfNegative val="1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F-B78A-4BF3-B069-A909CEEFE29C}"/>
              </c:ext>
            </c:extLst>
          </c:dPt>
          <c:cat>
            <c:strRef>
              <c:f>Sheet1!$A$2:$A$9</c:f>
              <c:strCache>
                <c:ptCount val="8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19</c:v>
                </c:pt>
                <c:pt idx="2">
                  <c:v>21</c:v>
                </c:pt>
                <c:pt idx="3">
                  <c:v>23</c:v>
                </c:pt>
                <c:pt idx="4">
                  <c:v>25</c:v>
                </c:pt>
                <c:pt idx="5">
                  <c:v>24</c:v>
                </c:pt>
                <c:pt idx="6">
                  <c:v>28</c:v>
                </c:pt>
                <c:pt idx="7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78A-4BF3-B069-A909CEEFE2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Year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/>
                  <a:t>US$ Billion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India Trade Balance with Key Partners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Trade Balance (US$ bn)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1-09BC-42BC-B0D5-D507B9601BD9}"/>
              </c:ext>
            </c:extLst>
          </c:dPt>
          <c:dPt>
            <c:idx val="1"/>
            <c:invertIfNegative val="1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3-09BC-42BC-B0D5-D507B9601BD9}"/>
              </c:ext>
            </c:extLst>
          </c:dPt>
          <c:dPt>
            <c:idx val="2"/>
            <c:invertIfNegative val="1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5-09BC-42BC-B0D5-D507B9601BD9}"/>
              </c:ext>
            </c:extLst>
          </c:dPt>
          <c:dPt>
            <c:idx val="3"/>
            <c:invertIfNegative val="1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7-09BC-42BC-B0D5-D507B9601BD9}"/>
              </c:ext>
            </c:extLst>
          </c:dPt>
          <c:dPt>
            <c:idx val="4"/>
            <c:invertIfNegative val="1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9-09BC-42BC-B0D5-D507B9601BD9}"/>
              </c:ext>
            </c:extLst>
          </c:dPt>
          <c:cat>
            <c:strRef>
              <c:f>Sheet1!$A$2:$A$6</c:f>
              <c:strCache>
                <c:ptCount val="5"/>
                <c:pt idx="0">
                  <c:v>USA</c:v>
                </c:pt>
                <c:pt idx="1">
                  <c:v>UAE</c:v>
                </c:pt>
                <c:pt idx="2">
                  <c:v>Bangladesh</c:v>
                </c:pt>
                <c:pt idx="3">
                  <c:v>China</c:v>
                </c:pt>
                <c:pt idx="4">
                  <c:v>Saudi Arabia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10</c:v>
                </c:pt>
                <c:pt idx="2">
                  <c:v>8</c:v>
                </c:pt>
                <c:pt idx="3">
                  <c:v>-55</c:v>
                </c:pt>
                <c:pt idx="4">
                  <c:v>-15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9BC-42BC-B0D5-D507B9601B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Partner Country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/>
                  <a:t>Trade Balance (Exports – Imports, US$ bn)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r>
              <a:rPr lang="en-US"/>
              <a:t>Indicative Share of Top 5 Export Commodities, 2022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/>
          <a:endParaRPr lang="en-US"/>
        </a:p>
      </c:txPr>
    </c:title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 algn="ctr">
        <a:defRPr sz="1800"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3-Year Forecast: Machinery (HS 84) Exports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Machinery Exports Forecast (US$ bn)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2023F</c:v>
                </c:pt>
                <c:pt idx="2">
                  <c:v>2024F</c:v>
                </c:pt>
                <c:pt idx="3">
                  <c:v>2025F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35</c:v>
                </c:pt>
                <c:pt idx="2">
                  <c:v>38</c:v>
                </c:pt>
                <c:pt idx="3">
                  <c:v>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0F-498F-9F4D-902FC7A840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Year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/>
                  <a:t>US$ Billion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48C20787-99A9-167C-014B-0F0D128BE4D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345837" cy="2482077"/>
        </a:xfrm>
        <a:prstGeom xmlns:a="http://schemas.openxmlformats.org/drawingml/2006/main" prst="rect">
          <a:avLst/>
        </a:prstGeom>
      </cdr:spPr>
    </cdr:pic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2CF9E7-0E61-782C-ACED-140B3D7F2847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India Trade Trends (2015–2022)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F8A15F3-3810-15E8-5760-D9EC8A1B3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11985"/>
            <a:ext cx="7772400" cy="3054284"/>
          </a:xfrm>
        </p:spPr>
        <p:txBody>
          <a:bodyPr>
            <a:normAutofit fontScale="90000"/>
          </a:bodyPr>
          <a:lstStyle/>
          <a:p>
            <a:pPr algn="l">
              <a:defRPr sz="2000"/>
            </a:pPr>
            <a:r>
              <a:rPr lang="en-US" dirty="0"/>
              <a:t>• India merchandise trade expanded steadily between 2015 and 2022, with both exports and imports rising.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The overall trade balance remained in deficit, reflecting continued dependence on imports of energy, electronics and capital goods.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Machinery exports (HSN 84 proxy) followed a clear upward trend, indicating deeper participation in global manufacturing value chains.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• Growth in machinery exports was smooth and structural rather than volatile, suggesting capability building rather than one off spikes.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75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India Trade Trends (2015–2022)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7297" y="1301841"/>
            <a:ext cx="61894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sz="1600" dirty="0"/>
              <a:t>Key highlights (2015–2022): India’s merchandise trade expanded steadily with a brief slowdown in 2020 followed by a strong rebound in 2021–22. Exports grew faster than imports in the recovery phase, narrowing the trade gap in select years.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sz="1600" dirty="0"/>
              <a:t>Machinery exports (HSN 84) have shown a clear upward trajectory, indicating increasing integration into global value chains, rising demand for Indian engineering goods, and gradual movement toward higher value-added manufacturing.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215728"/>
              </p:ext>
            </p:extLst>
          </p:nvPr>
        </p:nvGraphicFramePr>
        <p:xfrm>
          <a:off x="457200" y="4041794"/>
          <a:ext cx="777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Country-Level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9138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r>
              <a:rPr sz="1600" dirty="0"/>
              <a:t>India’s top trading partners (by total trade value) include the United States, China, United Arab Emirates, European Union, and Singapore. These markets collectively account for a large share of India’s exports and imports.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r>
              <a:rPr sz="1600" dirty="0"/>
              <a:t>India records sizeable trade surpluses with markets like the US and some smaller developing economies, while large and persistent trade deficits are observed with China and energy-exporting countries due to heavy import dependence on electronics, machinery, and crude oil.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898248"/>
              </p:ext>
            </p:extLst>
          </p:nvPr>
        </p:nvGraphicFramePr>
        <p:xfrm>
          <a:off x="457200" y="3236847"/>
          <a:ext cx="7772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638"/>
            <a:ext cx="8229600" cy="1143000"/>
          </a:xfrm>
        </p:spPr>
        <p:txBody>
          <a:bodyPr/>
          <a:lstStyle/>
          <a:p>
            <a:r>
              <a:rPr sz="3600" b="1"/>
              <a:t>Commodity-Level Insights (2022)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69661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sz="1600" dirty="0"/>
              <a:t>In 2022, India’s top export commodities include: Machinery (HS 84), Mineral fuels, Gems &amp; </a:t>
            </a:r>
            <a:r>
              <a:rPr sz="1600" dirty="0" err="1"/>
              <a:t>jewellery</a:t>
            </a:r>
            <a:r>
              <a:rPr sz="1600" dirty="0"/>
              <a:t>, Pharmaceuticals, and Organic chemicals. These categories together drive a major share of export earnings.</a:t>
            </a:r>
            <a:endParaRPr lang="en-US" sz="1600" dirty="0"/>
          </a:p>
          <a:p>
            <a:pPr>
              <a:defRPr sz="1600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sz="1600" dirty="0"/>
              <a:t>Promote: engineering goods and machinery, pharmaceuticals, and high-value chemicals – they offer higher margins, technology spillovers, and align with India’s long-term industrial strategy. Protect/monitor: highly import-dependent electronics and critical intermediates where sudden supply shocks or price spikes can widen the trade deficit.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000980"/>
              </p:ext>
            </p:extLst>
          </p:nvPr>
        </p:nvGraphicFramePr>
        <p:xfrm>
          <a:off x="899081" y="3786747"/>
          <a:ext cx="7345837" cy="2482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092" y="274638"/>
            <a:ext cx="8112708" cy="715176"/>
          </a:xfrm>
        </p:spPr>
        <p:txBody>
          <a:bodyPr/>
          <a:lstStyle/>
          <a:p>
            <a:r>
              <a:rPr sz="3600" b="1" dirty="0"/>
              <a:t>Forecast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1946"/>
            <a:ext cx="73670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sz="1600" dirty="0"/>
              <a:t>Based on recent growth patterns, machinery exports (HS 84) are projected to grow by around 8–10% annually over the next three years, assuming stable global demand and no major disruptions. This would further strengthen India’s position in engineering exports.</a:t>
            </a:r>
            <a:endParaRPr lang="en-US" sz="1600" dirty="0"/>
          </a:p>
          <a:p>
            <a:pPr>
              <a:defRPr sz="1600"/>
            </a:pPr>
            <a:r>
              <a:rPr sz="1600" dirty="0"/>
              <a:t>Key recommendations: 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sz="1600" dirty="0"/>
              <a:t>(1) Accelerate technology upgradation and automation in machinery manufacturing; (2) Deepen trade agreements with major markets (US, EU, ASEAN) for tariff and non-tariff benefits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sz="1600" dirty="0"/>
              <a:t>; (3) Improve logistics, customs processes, and export credit access to reduce cost of exporting; 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sz="1600" dirty="0"/>
              <a:t>(4) Mitigate risk by diversifying suppliers away from single-country dependence for critical inputs.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66248"/>
              </p:ext>
            </p:extLst>
          </p:nvPr>
        </p:nvGraphicFramePr>
        <p:xfrm>
          <a:off x="685800" y="3931602"/>
          <a:ext cx="77724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537</Words>
  <Application>Microsoft Office PowerPoint</Application>
  <PresentationFormat>On-screen Show (4:3)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• India merchandise trade expanded steadily between 2015 and 2022, with both exports and imports rising.  • The overall trade balance remained in deficit, reflecting continued dependence on imports of energy, electronics and capital goods.  • Machinery exports (HSN 84 proxy) followed a clear upward trend, indicating deeper participation in global manufacturing value chains.  • Growth in machinery exports was smooth and structural rather than volatile, suggesting capability building rather than one off spikes. </vt:lpstr>
      <vt:lpstr>India Trade Trends (2015–2022)</vt:lpstr>
      <vt:lpstr>Country-Level Observations</vt:lpstr>
      <vt:lpstr>Commodity-Level Insights (2022)</vt:lpstr>
      <vt:lpstr>Forecast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Satyam Patel</cp:lastModifiedBy>
  <cp:revision>2</cp:revision>
  <dcterms:created xsi:type="dcterms:W3CDTF">2013-01-27T09:14:16Z</dcterms:created>
  <dcterms:modified xsi:type="dcterms:W3CDTF">2025-12-04T05:32:11Z</dcterms:modified>
  <cp:category/>
</cp:coreProperties>
</file>